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~35 seconds</a:t>
            </a:r>
          </a:p>
          <a:p/>
          <a:p>
            <a:r>
              <a:t>“Good morning everyone. My name is William Martin.</a:t>
            </a:r>
          </a:p>
          <a:p/>
          <a:p>
            <a:r>
              <a:t>I have more than 16 years of IT experience, mainly across enterprise support, endpoint management, troubleshooting and infrastructure support.</a:t>
            </a:r>
          </a:p>
          <a:p/>
          <a:p>
            <a:r>
              <a:t>For me, this portfolio represents a career transition. I am taking the experience I already have in solving technical problems and applying it to Cloud and DevOps.</a:t>
            </a:r>
          </a:p>
          <a:p/>
          <a:p>
            <a:r>
              <a:t>Over the next few minutes, I’ll show you where I came from, what I have been building, what I learned from the process, and where I want to go next.”</a:t>
            </a:r>
          </a:p>
          <a:p/>
          <a:p>
            <a:r>
              <a:t>PAUSE.</a:t>
            </a:r>
          </a:p>
          <a:p/>
          <a:p>
            <a:r>
              <a:t>“Let’s start with the experience I already bring to the table.”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~60 seconds</a:t>
            </a:r>
          </a:p>
          <a:p/>
          <a:p>
            <a:r>
              <a:t>“My biggest differentiator is that I am not starting my IT career from zero.</a:t>
            </a:r>
          </a:p>
          <a:p/>
          <a:p>
            <a:r>
              <a:t>I started in enterprise IT support and infrastructure roles, then moved into EUC and endpoint engineering, and most recently worked in third-level support.</a:t>
            </a:r>
          </a:p>
          <a:p/>
          <a:p>
            <a:r>
              <a:t>In my 3rd Level Support role, I dealt with complex escalations, root-cause analysis, customer integrations and engineering collaboration.</a:t>
            </a:r>
          </a:p>
          <a:p/>
          <a:p>
            <a:r>
              <a:t>Technically, my background includes Intune, SCCM, Jamf, Microsoft 365, Azure AD, Windows and macOS.</a:t>
            </a:r>
          </a:p>
          <a:p/>
          <a:p>
            <a:r>
              <a:t>Now I am extending that foundation through Cloud and DevOps training — including Linux, Python, Git, Docker, Azure, Terraform, Ansible and CI/CD.</a:t>
            </a:r>
          </a:p>
          <a:p/>
          <a:p>
            <a:r>
              <a:t>The important point is that troubleshooting, communication and documentation are skills I can carry from support into Cloud and DevOps.”</a:t>
            </a:r>
          </a:p>
          <a:p/>
          <a:p>
            <a:r>
              <a:t>Transition:</a:t>
            </a:r>
          </a:p>
          <a:p>
            <a:r>
              <a:t>“And the best way to demonstrate that is with something I actually built.”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~95 seconds</a:t>
            </a:r>
          </a:p>
          <a:p/>
          <a:p>
            <a:r>
              <a:t>“One of the strongest pieces of evidence in my portfolio is this CI/CD project.</a:t>
            </a:r>
          </a:p>
          <a:p/>
          <a:p>
            <a:r>
              <a:t>I started with a Python Flask web application. I then containerised the application with Docker and created a pipeline in Azure DevOps.</a:t>
            </a:r>
          </a:p>
          <a:p/>
          <a:p>
            <a:r>
              <a:t>The basic flow is: application source, source control, CI/CD pipeline, container image, and finally deployment to Kubernetes.</a:t>
            </a:r>
          </a:p>
          <a:p/>
          <a:p>
            <a:r>
              <a:t>What makes this project useful for my portfolio is that I can show evidence rather than simply list technologies.</a:t>
            </a:r>
          </a:p>
          <a:p/>
          <a:p>
            <a:r>
              <a:t>On the left is my Azure DevOps pipeline. You can see successful runs, testing of the automatic trigger, and also a deliberate pipeline failure gate.</a:t>
            </a:r>
          </a:p>
          <a:p/>
          <a:p>
            <a:r>
              <a:t>On the right is the private Docker Hub repository containing the container image.</a:t>
            </a:r>
          </a:p>
          <a:p/>
          <a:p>
            <a:r>
              <a:t>I learned that CI/CD is not just about making a green pipeline. It is about creating a repeatable process where changes can be built, checked and deployed.</a:t>
            </a:r>
          </a:p>
          <a:p/>
          <a:p>
            <a:r>
              <a:t>I also had to troubleshoot the project along the way, which brings me to the part I found most valuable.”</a:t>
            </a:r>
          </a:p>
          <a:p/>
          <a:p>
            <a:r>
              <a:t>PAUSE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~65 seconds</a:t>
            </a:r>
          </a:p>
          <a:p/>
          <a:p>
            <a:r>
              <a:t>“One of the biggest areas of growth for me was learning to troubleshoot technologies I was still becoming familiar with.</a:t>
            </a:r>
          </a:p>
          <a:p/>
          <a:p>
            <a:r>
              <a:t>During this project, I encountered pipeline and deployment issues. Instead of treating the error as something to work around blindly, I used the troubleshooting approach I already developed in IT support.</a:t>
            </a:r>
          </a:p>
          <a:p/>
          <a:p>
            <a:r>
              <a:t>I reproduced the problem, read the error, inspected the relevant component, isolated the issue, applied a fix and then verified the result.</a:t>
            </a:r>
          </a:p>
          <a:p/>
          <a:p>
            <a:r>
              <a:t>The Kubernetes evidence here shows three Flask pods running, with the application exposed through a NodePort service.</a:t>
            </a:r>
          </a:p>
          <a:p/>
          <a:p>
            <a:r>
              <a:t>I also tested the deployed application and received an HTTP 200 response.</a:t>
            </a:r>
          </a:p>
          <a:p/>
          <a:p>
            <a:r>
              <a:t>That was an important lesson for me: the tools may change, but the problem-solving mindset remains the same.</a:t>
            </a:r>
          </a:p>
          <a:p/>
          <a:p>
            <a:r>
              <a:t>I am now applying the troubleshooting habits I developed in enterprise IT to Cloud and DevOps environments.”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~45 seconds</a:t>
            </a:r>
          </a:p>
          <a:p/>
          <a:p>
            <a:r>
              <a:t>“Looking ahead, my goal is to combine the experience I already have with the Cloud and DevOps capabilities I am developing now.</a:t>
            </a:r>
          </a:p>
          <a:p/>
          <a:p>
            <a:r>
              <a:t>My immediate goal is to move into a Cloud Support or DevOps-related role where I can continue building practical experience.</a:t>
            </a:r>
          </a:p>
          <a:p/>
          <a:p>
            <a:r>
              <a:t>Longer term, I want to grow into a technical leadership role, combining technical depth with the communication and stakeholder skills I have developed throughout my career.</a:t>
            </a:r>
          </a:p>
          <a:p/>
          <a:p>
            <a:r>
              <a:t>If there are three things I want you to remember from my portfolio, they are: experience, evidence and growth.</a:t>
            </a:r>
          </a:p>
          <a:p/>
          <a:p>
            <a:r>
              <a:t>I bring real enterprise troubleshooting experience. I can demonstrate what I have built rather than simply list technologies. And I am deliberately building new Cloud and DevOps capability.</a:t>
            </a:r>
          </a:p>
          <a:p/>
          <a:p>
            <a:r>
              <a:t>PAUSE.</a:t>
            </a:r>
          </a:p>
          <a:p/>
          <a:p>
            <a:r>
              <a:t>“I started my career solving IT problems for users.</a:t>
            </a:r>
          </a:p>
          <a:p/>
          <a:p>
            <a:r>
              <a:t>Today, I’m learning how to solve those problems at cloud and infrastructure scale.”</a:t>
            </a:r>
          </a:p>
          <a:p/>
          <a:p>
            <a:r>
              <a:t>PAUSE.</a:t>
            </a:r>
          </a:p>
          <a:p/>
          <a:p>
            <a:r>
              <a:t>“Thank you.”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9C5EF"/>
                </a:solidFill>
                <a:latin typeface="Aptos"/>
              </a:rPr>
              <a:t>PORTFOLIO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5029200" cy="1417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F4F8FC"/>
                </a:solidFill>
                <a:latin typeface="Aptos"/>
              </a:rPr>
              <a:t>From IT Support
to Cloud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560320"/>
            <a:ext cx="274320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900" b="1" i="0">
                <a:solidFill>
                  <a:srgbClr val="29C5EF"/>
                </a:solidFill>
                <a:latin typeface="Aptos"/>
              </a:rPr>
              <a:t>William Martin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71800"/>
            <a:ext cx="457200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A4B5C9"/>
                </a:solidFill>
                <a:latin typeface="Aptos"/>
              </a:rPr>
              <a:t>Enterprise IT • Endpoint Management • Cloud • DevOps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703320"/>
            <a:ext cx="2103120" cy="301752"/>
          </a:xfrm>
          <a:prstGeom prst="roundRect">
            <a:avLst/>
          </a:prstGeom>
          <a:solidFill>
            <a:srgbClr val="0D1A2F"/>
          </a:solidFill>
          <a:ln w="12700">
            <a:solidFill>
              <a:srgbClr val="2DD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3744468"/>
            <a:ext cx="2011679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2DD395"/>
                </a:solidFill>
                <a:latin typeface="Aptos"/>
              </a:rPr>
              <a:t>16+ YEARS IT EXPERIENCE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3703320"/>
            <a:ext cx="2560320" cy="301752"/>
          </a:xfrm>
          <a:prstGeom prst="roundRect">
            <a:avLst/>
          </a:prstGeom>
          <a:solidFill>
            <a:srgbClr val="0D1A2F"/>
          </a:solidFill>
          <a:ln w="12700">
            <a:solidFill>
              <a:srgbClr val="29C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79" y="3744468"/>
            <a:ext cx="2468879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29C5EF"/>
                </a:solidFill>
                <a:latin typeface="Aptos"/>
              </a:rPr>
              <a:t>SCTP CLOUD SUPPORT &amp; DEVOPS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315968"/>
            <a:ext cx="9144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A4B5C9"/>
                </a:solidFill>
                <a:latin typeface="Aptos"/>
              </a:rPr>
              <a:t>My 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590288"/>
            <a:ext cx="484632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4F8FC"/>
                </a:solidFill>
                <a:latin typeface="Aptos"/>
              </a:rPr>
              <a:t>Enterprise Support  →  Hands-on Cloud  →  DevOps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102352"/>
            <a:ext cx="4754880" cy="6400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A4B5C9"/>
                </a:solidFill>
                <a:latin typeface="Aptos"/>
              </a:rPr>
              <a:t>I am building on my existing troubleshooting experience rather than starting from zero.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566928"/>
            <a:ext cx="5760720" cy="5715000"/>
          </a:xfrm>
          <a:prstGeom prst="roundRect">
            <a:avLst/>
          </a:prstGeom>
          <a:solidFill>
            <a:srgbClr val="0D1A2F"/>
          </a:solidFill>
          <a:ln w="12700"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y Scratch Page - William Martin Portfolio Web Ap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571" y="749808"/>
            <a:ext cx="1982457" cy="5349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26480" y="5989320"/>
            <a:ext cx="51206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29C5EF"/>
                </a:solidFill>
                <a:latin typeface="Aptos"/>
              </a:rPr>
              <a:t>MY PORTFOLIO WEB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A4B5C9"/>
                </a:solidFill>
                <a:latin typeface="Aptos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2004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9C5EF"/>
                </a:solidFill>
                <a:latin typeface="Aptos"/>
              </a:rPr>
              <a:t>01 /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4F8FC"/>
                </a:solidFill>
                <a:latin typeface="Aptos"/>
              </a:rPr>
              <a:t>What I Bring to the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A4B5C9"/>
                </a:solidFill>
                <a:latin typeface="Aptos"/>
              </a:rPr>
              <a:t>A strong enterprise foundation, now extended with Cloud &amp; DevOps skills.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5212080" cy="4251960"/>
          </a:xfrm>
          <a:prstGeom prst="roundRect">
            <a:avLst/>
          </a:prstGeom>
          <a:solidFill>
            <a:srgbClr val="122037"/>
          </a:solidFill>
          <a:ln w="12700"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219456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9C5EF"/>
                </a:solidFill>
                <a:latin typeface="Aptos"/>
              </a:rPr>
              <a:t>CAREER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514600"/>
            <a:ext cx="45720" cy="2697480"/>
          </a:xfrm>
          <a:prstGeom prst="rect">
            <a:avLst/>
          </a:prstGeom>
          <a:solidFill>
            <a:srgbClr val="2B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2487168"/>
            <a:ext cx="256032" cy="256032"/>
          </a:xfrm>
          <a:prstGeom prst="ellipse">
            <a:avLst/>
          </a:prstGeom>
          <a:solidFill>
            <a:srgbClr val="29C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468880"/>
            <a:ext cx="9601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A4B5C9"/>
                </a:solidFill>
                <a:latin typeface="Aptos"/>
              </a:rPr>
              <a:t>2010–2018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441448"/>
            <a:ext cx="242316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4F8FC"/>
                </a:solidFill>
                <a:latin typeface="Aptos"/>
              </a:rPr>
              <a:t>Enterprise IT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734056"/>
            <a:ext cx="292608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A4B5C9"/>
                </a:solidFill>
                <a:latin typeface="Aptos"/>
              </a:rPr>
              <a:t>Desktop support, migrations, deployments, asset lifecycle &amp; project rollouts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246120"/>
            <a:ext cx="256032" cy="256032"/>
          </a:xfrm>
          <a:prstGeom prst="ellipse">
            <a:avLst/>
          </a:prstGeom>
          <a:solidFill>
            <a:srgbClr val="29C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227832"/>
            <a:ext cx="9601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A4B5C9"/>
                </a:solidFill>
                <a:latin typeface="Aptos"/>
              </a:rPr>
              <a:t>2019–2021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200400"/>
            <a:ext cx="242316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4F8FC"/>
                </a:solidFill>
                <a:latin typeface="Aptos"/>
              </a:rPr>
              <a:t>EUC / Endpoint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493008"/>
            <a:ext cx="292608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A4B5C9"/>
                </a:solidFill>
                <a:latin typeface="Aptos"/>
              </a:rPr>
              <a:t>Intune, Azure AD, SCCM, MDM, macOS/iOS &amp; VIP support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4005072"/>
            <a:ext cx="256032" cy="256032"/>
          </a:xfrm>
          <a:prstGeom prst="ellipse">
            <a:avLst/>
          </a:prstGeom>
          <a:solidFill>
            <a:srgbClr val="29C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986784"/>
            <a:ext cx="9601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A4B5C9"/>
                </a:solidFill>
                <a:latin typeface="Aptos"/>
              </a:rPr>
              <a:t>2021–2026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959352"/>
            <a:ext cx="242316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4F8FC"/>
                </a:solidFill>
                <a:latin typeface="Aptos"/>
              </a:rPr>
              <a:t>3rd Level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251960"/>
            <a:ext cx="292608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A4B5C9"/>
                </a:solidFill>
                <a:latin typeface="Aptos"/>
              </a:rPr>
              <a:t>Complex escalations, RCA, customer integrations &amp; engineering collaboration</a:t>
            </a:r>
          </a:p>
        </p:txBody>
      </p:sp>
      <p:sp>
        <p:nvSpPr>
          <p:cNvPr id="20" name="Oval 19"/>
          <p:cNvSpPr/>
          <p:nvPr/>
        </p:nvSpPr>
        <p:spPr>
          <a:xfrm>
            <a:off x="941832" y="4764024"/>
            <a:ext cx="256032" cy="256032"/>
          </a:xfrm>
          <a:prstGeom prst="ellipse">
            <a:avLst/>
          </a:prstGeom>
          <a:solidFill>
            <a:srgbClr val="2DD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4745736"/>
            <a:ext cx="9601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A4B5C9"/>
                </a:solidFill>
                <a:latin typeface="Aptos"/>
              </a:rPr>
              <a:t>2026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4718304"/>
            <a:ext cx="242316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4F8FC"/>
                </a:solidFill>
                <a:latin typeface="Aptos"/>
              </a:rPr>
              <a:t>Cloud &amp; DevOps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5010912"/>
            <a:ext cx="292608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A4B5C9"/>
                </a:solidFill>
                <a:latin typeface="Aptos"/>
              </a:rPr>
              <a:t>Python, Linux, Git, Docker, Azure, Terraform, Ansible &amp; CI/CD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1783080"/>
            <a:ext cx="5486400" cy="4251960"/>
          </a:xfrm>
          <a:prstGeom prst="roundRect">
            <a:avLst/>
          </a:prstGeom>
          <a:solidFill>
            <a:srgbClr val="122037"/>
          </a:solidFill>
          <a:ln w="12700"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029968"/>
            <a:ext cx="29260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DD395"/>
                </a:solidFill>
                <a:latin typeface="Aptos"/>
              </a:rPr>
              <a:t>SKILLS I CAN DEMONSTRATE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2514600"/>
            <a:ext cx="2331720" cy="1325880"/>
          </a:xfrm>
          <a:prstGeom prst="roundRect">
            <a:avLst/>
          </a:prstGeom>
          <a:solidFill>
            <a:srgbClr val="0D1A2F"/>
          </a:solidFill>
          <a:ln w="12700">
            <a:solidFill>
              <a:srgbClr val="29C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6700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9C5EF"/>
                </a:solidFill>
                <a:latin typeface="Aptos"/>
              </a:rPr>
              <a:t>ENTERPRISE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990088"/>
            <a:ext cx="2011680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F4F8FC"/>
                </a:solidFill>
                <a:latin typeface="Aptos"/>
              </a:rPr>
              <a:t>L3 support • RCA • escalations
Customer integrations • documentation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2514600"/>
            <a:ext cx="2331720" cy="1325880"/>
          </a:xfrm>
          <a:prstGeom prst="roundRect">
            <a:avLst/>
          </a:prstGeom>
          <a:solidFill>
            <a:srgbClr val="0D1A2F"/>
          </a:solidFill>
          <a:ln w="12700">
            <a:solidFill>
              <a:srgbClr val="29C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267004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9C5EF"/>
                </a:solidFill>
                <a:latin typeface="Aptos"/>
              </a:rPr>
              <a:t>ENDPOINT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990088"/>
            <a:ext cx="2011680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F4F8FC"/>
                </a:solidFill>
                <a:latin typeface="Aptos"/>
              </a:rPr>
              <a:t>Intune • SCCM • Jamf
Microsoft 365 • Azure 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160520"/>
            <a:ext cx="2331720" cy="1325880"/>
          </a:xfrm>
          <a:prstGeom prst="roundRect">
            <a:avLst/>
          </a:prstGeom>
          <a:solidFill>
            <a:srgbClr val="0D1A2F"/>
          </a:solidFill>
          <a:ln w="12700">
            <a:solidFill>
              <a:srgbClr val="2DD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31596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DD395"/>
                </a:solidFill>
                <a:latin typeface="Aptos"/>
              </a:rPr>
              <a:t>CLOUD &amp; DEVOPS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636008"/>
            <a:ext cx="2011680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F4F8FC"/>
                </a:solidFill>
                <a:latin typeface="Aptos"/>
              </a:rPr>
              <a:t>Azure • Linux • Git • Docker
Terraform • Ansible • CI/CD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4160520"/>
            <a:ext cx="2331720" cy="1325880"/>
          </a:xfrm>
          <a:prstGeom prst="roundRect">
            <a:avLst/>
          </a:prstGeom>
          <a:solidFill>
            <a:srgbClr val="0D1A2F"/>
          </a:solidFill>
          <a:ln w="12700">
            <a:solidFill>
              <a:srgbClr val="F7A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4315968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7AA43"/>
                </a:solidFill>
                <a:latin typeface="Aptos"/>
              </a:rPr>
              <a:t>HOW I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636008"/>
            <a:ext cx="2011680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F4F8FC"/>
                </a:solidFill>
                <a:latin typeface="Aptos"/>
              </a:rPr>
              <a:t>Troubleshoot methodically
Communicate • collaborate • document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A4B5C9"/>
                </a:solidFill>
                <a:latin typeface="Aptos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2004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9C5EF"/>
                </a:solidFill>
                <a:latin typeface="Aptos"/>
              </a:rPr>
              <a:t>02 /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4F8FC"/>
                </a:solidFill>
                <a:latin typeface="Aptos"/>
              </a:rPr>
              <a:t>A CI/CD Pipeline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A4B5C9"/>
                </a:solidFill>
                <a:latin typeface="Aptos"/>
              </a:rPr>
              <a:t>From a Python Flask application to a container running on Kubernetes.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55648"/>
            <a:ext cx="1783080" cy="658368"/>
          </a:xfrm>
          <a:prstGeom prst="roundRect">
            <a:avLst/>
          </a:prstGeom>
          <a:solidFill>
            <a:srgbClr val="0D1A2F"/>
          </a:solidFill>
          <a:ln w="12700">
            <a:solidFill>
              <a:srgbClr val="29C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901952"/>
            <a:ext cx="25603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29C5E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883664"/>
            <a:ext cx="1188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4F8FC"/>
                </a:solidFill>
                <a:latin typeface="Aptos"/>
              </a:rPr>
              <a:t>Flask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874519"/>
            <a:ext cx="3200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A4B5C9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755648"/>
            <a:ext cx="1783080" cy="658368"/>
          </a:xfrm>
          <a:prstGeom prst="roundRect">
            <a:avLst/>
          </a:prstGeom>
          <a:solidFill>
            <a:srgbClr val="0D1A2F"/>
          </a:solidFill>
          <a:ln w="12700">
            <a:solidFill>
              <a:srgbClr val="29C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1901952"/>
            <a:ext cx="25603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29C5E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883664"/>
            <a:ext cx="1188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4F8FC"/>
                </a:solidFill>
                <a:latin typeface="Aptos"/>
              </a:rPr>
              <a:t>Git /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74519"/>
            <a:ext cx="3200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A4B5C9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1755648"/>
            <a:ext cx="1783080" cy="658368"/>
          </a:xfrm>
          <a:prstGeom prst="roundRect">
            <a:avLst/>
          </a:prstGeom>
          <a:solidFill>
            <a:srgbClr val="0D1A2F"/>
          </a:solidFill>
          <a:ln w="12700">
            <a:solidFill>
              <a:srgbClr val="29C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6088" y="1901952"/>
            <a:ext cx="25603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29C5E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5272" y="1883664"/>
            <a:ext cx="1188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4F8FC"/>
                </a:solidFill>
                <a:latin typeface="Aptos"/>
              </a:rPr>
              <a:t>Azure DevOps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874519"/>
            <a:ext cx="3200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A4B5C9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755648"/>
            <a:ext cx="1783080" cy="658368"/>
          </a:xfrm>
          <a:prstGeom prst="roundRect">
            <a:avLst/>
          </a:prstGeom>
          <a:solidFill>
            <a:srgbClr val="0D1A2F"/>
          </a:solidFill>
          <a:ln w="12700">
            <a:solidFill>
              <a:srgbClr val="29C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1901952"/>
            <a:ext cx="25603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29C5E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1883664"/>
            <a:ext cx="1188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4F8FC"/>
                </a:solidFill>
                <a:latin typeface="Aptos"/>
              </a:rPr>
              <a:t>Docker 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874519"/>
            <a:ext cx="3200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A4B5C9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1755648"/>
            <a:ext cx="1783080" cy="658368"/>
          </a:xfrm>
          <a:prstGeom prst="roundRect">
            <a:avLst/>
          </a:prstGeom>
          <a:solidFill>
            <a:srgbClr val="0D1A2F"/>
          </a:solidFill>
          <a:ln w="12700">
            <a:solidFill>
              <a:srgbClr val="2DD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6648" y="1901952"/>
            <a:ext cx="25603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2DD395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1883664"/>
            <a:ext cx="1188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4F8FC"/>
                </a:solidFill>
                <a:latin typeface="Aptos"/>
              </a:rPr>
              <a:t>Kubernetes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2697480"/>
            <a:ext cx="5532120" cy="3337560"/>
          </a:xfrm>
          <a:prstGeom prst="roundRect">
            <a:avLst/>
          </a:prstGeom>
          <a:solidFill>
            <a:srgbClr val="0D1A2F"/>
          </a:solidFill>
          <a:ln w="12700"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880360"/>
            <a:ext cx="18288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9C5EF"/>
                </a:solidFill>
                <a:latin typeface="Aptos"/>
              </a:rPr>
              <a:t>PIPELINE EVIDENCE</a:t>
            </a:r>
          </a:p>
        </p:txBody>
      </p:sp>
      <p:pic>
        <p:nvPicPr>
          <p:cNvPr id="26" name="Picture 25" descr="Azure DevOps Pipeline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711" y="3218688"/>
            <a:ext cx="4357416" cy="2331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41248" y="5623560"/>
            <a:ext cx="49834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A4B5C9"/>
                </a:solidFill>
                <a:latin typeface="Aptos"/>
              </a:rPr>
              <a:t>Azure DevOps shows successful runs, automatic trigger testing and a deliberate failure gate.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2697480"/>
            <a:ext cx="5257800" cy="3337560"/>
          </a:xfrm>
          <a:prstGeom prst="roundRect">
            <a:avLst/>
          </a:prstGeom>
          <a:solidFill>
            <a:srgbClr val="0D1A2F"/>
          </a:solidFill>
          <a:ln w="12700"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880360"/>
            <a:ext cx="2011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DD395"/>
                </a:solidFill>
                <a:latin typeface="Aptos"/>
              </a:rPr>
              <a:t>CONTAINER EVIDENCE</a:t>
            </a:r>
          </a:p>
        </p:txBody>
      </p:sp>
      <p:pic>
        <p:nvPicPr>
          <p:cNvPr id="30" name="Picture 29" descr="Docker Hub Repository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247" y="3218688"/>
            <a:ext cx="2672025" cy="23317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556248" y="5623560"/>
            <a:ext cx="47091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A4B5C9"/>
                </a:solidFill>
                <a:latin typeface="Aptos"/>
              </a:rPr>
              <a:t>The private Docker Hub repository contains the application image used by the deployment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A4B5C9"/>
                </a:solidFill>
                <a:latin typeface="Aptos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2004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9C5EF"/>
                </a:solidFill>
                <a:latin typeface="Aptos"/>
              </a:rPr>
              <a:t>03 /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4F8FC"/>
                </a:solidFill>
                <a:latin typeface="Aptos"/>
              </a:rPr>
              <a:t>What Went Wrong — and What I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A4B5C9"/>
                </a:solidFill>
                <a:latin typeface="Aptos"/>
              </a:rPr>
              <a:t>The troubleshooting process was as valuable as getting the application to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5532120" cy="4251960"/>
          </a:xfrm>
          <a:prstGeom prst="roundRect">
            <a:avLst/>
          </a:prstGeom>
          <a:solidFill>
            <a:srgbClr val="122037"/>
          </a:solidFill>
          <a:ln w="12700"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22860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F7AA43"/>
                </a:solidFill>
                <a:latin typeface="Aptos"/>
              </a:rPr>
              <a:t>TROUBLESHOOTING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42032"/>
            <a:ext cx="105156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EC6060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523744"/>
            <a:ext cx="379476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F4F8FC"/>
                </a:solidFill>
                <a:latin typeface="Aptos"/>
              </a:rPr>
              <a:t>Pipeline and deployment issues required investigation rather than guesswork.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593591"/>
            <a:ext cx="105156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9C5EF"/>
                </a:solidFill>
                <a:latin typeface="Aptos"/>
              </a:rP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75303"/>
            <a:ext cx="379476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F4F8FC"/>
                </a:solidFill>
                <a:latin typeface="Aptos"/>
              </a:rPr>
              <a:t>Read the errors, checked the pipeline stages, verified the container and inspected Kubernetes.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645152"/>
            <a:ext cx="105156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DD395"/>
                </a:solidFill>
                <a:latin typeface="Aptos"/>
              </a:rP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26864"/>
            <a:ext cx="379476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F4F8FC"/>
                </a:solidFill>
                <a:latin typeface="Aptos"/>
              </a:rPr>
              <a:t>The Flask application was running in Kubernetes and returned HTTP 200 during testing.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468112"/>
            <a:ext cx="310896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A4B5C9"/>
                </a:solidFill>
                <a:latin typeface="Aptos"/>
              </a:rPr>
              <a:t>My support background helped here: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742432"/>
            <a:ext cx="46634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4F8FC"/>
                </a:solidFill>
                <a:latin typeface="Aptos"/>
              </a:rPr>
              <a:t>reproduce → read → inspect → isolate → fix → verify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83080"/>
            <a:ext cx="5212080" cy="4251960"/>
          </a:xfrm>
          <a:prstGeom prst="roundRect">
            <a:avLst/>
          </a:prstGeom>
          <a:solidFill>
            <a:srgbClr val="0D1A2F"/>
          </a:solidFill>
          <a:ln w="12700"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029968"/>
            <a:ext cx="22860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DD395"/>
                </a:solidFill>
                <a:latin typeface="Aptos"/>
              </a:rPr>
              <a:t>KUBERNETES EVIDENCE</a:t>
            </a:r>
          </a:p>
        </p:txBody>
      </p:sp>
      <p:pic>
        <p:nvPicPr>
          <p:cNvPr id="17" name="Picture 16" descr="Kubernetes Powershell Terminal Commands Results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008291"/>
            <a:ext cx="4754880" cy="9785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29400" y="4709160"/>
            <a:ext cx="21031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2DD395"/>
                </a:solidFill>
                <a:latin typeface="Aptos"/>
              </a:rPr>
              <a:t>3/3 Flask pods running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5102352"/>
            <a:ext cx="43891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F4F8FC"/>
                </a:solidFill>
                <a:latin typeface="Aptos"/>
              </a:rPr>
              <a:t>Service exposed as NodePort 5000:30080/TCP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5504688"/>
            <a:ext cx="43891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9C5EF"/>
                </a:solidFill>
                <a:latin typeface="Aptos"/>
              </a:rPr>
              <a:t>Test result: HTTP 200 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A4B5C9"/>
                </a:solidFill>
                <a:latin typeface="Aptos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2004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9C5EF"/>
                </a:solidFill>
                <a:latin typeface="Aptos"/>
              </a:rPr>
              <a:t>04 /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4F8FC"/>
                </a:solidFill>
                <a:latin typeface="Aptos"/>
              </a:rPr>
              <a:t>Where I’m Going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A4B5C9"/>
                </a:solidFill>
                <a:latin typeface="Aptos"/>
              </a:rPr>
              <a:t>My goal is to combine proven enterprise support skills with practical Cloud &amp; DevOps capability.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1920240"/>
          </a:xfrm>
          <a:prstGeom prst="roundRect">
            <a:avLst/>
          </a:prstGeom>
          <a:solidFill>
            <a:srgbClr val="0D1A2F"/>
          </a:solidFill>
          <a:ln w="12700"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1645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29C5EF"/>
                </a:solidFill>
                <a:latin typeface="Aptos"/>
              </a:rPr>
              <a:t>PAST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1031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"/>
              </a:rPr>
              <a:t>Enterprise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61488"/>
            <a:ext cx="205740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A4B5C9"/>
                </a:solidFill>
                <a:latin typeface="Aptos"/>
              </a:rPr>
              <a:t>Support • EUC • Endpoint
L3 • RCA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432304"/>
            <a:ext cx="320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2B405B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029968"/>
            <a:ext cx="1645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2DD395"/>
                </a:solidFill>
                <a:latin typeface="Aptos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331720"/>
            <a:ext cx="21031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"/>
              </a:rPr>
              <a:t>Cloud &amp; DevOps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761488"/>
            <a:ext cx="205740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A4B5C9"/>
                </a:solidFill>
                <a:latin typeface="Aptos"/>
              </a:rPr>
              <a:t>Linux • Python • Git
Docker • CI/CD • Azure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432304"/>
            <a:ext cx="320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2B405B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029968"/>
            <a:ext cx="1645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29C5EF"/>
                </a:solidFill>
                <a:latin typeface="Aptos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331720"/>
            <a:ext cx="21031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"/>
              </a:rPr>
              <a:t>Cloud / DevOps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761488"/>
            <a:ext cx="205740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A4B5C9"/>
                </a:solidFill>
                <a:latin typeface="Aptos"/>
              </a:rPr>
              <a:t>Operate • automate
troubleshoot • improve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432304"/>
            <a:ext cx="320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2B405B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29968"/>
            <a:ext cx="1645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29C5EF"/>
                </a:solidFill>
                <a:latin typeface="Aptos"/>
              </a:rPr>
              <a:t>LONGER TERM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331720"/>
            <a:ext cx="21031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"/>
              </a:rPr>
              <a:t>Technical Leadership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761488"/>
            <a:ext cx="205740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A4B5C9"/>
                </a:solidFill>
                <a:latin typeface="Aptos"/>
              </a:rPr>
              <a:t>Technical depth +
people &amp; stakeholder 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069080"/>
            <a:ext cx="27432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9C5EF"/>
                </a:solidFill>
                <a:latin typeface="Aptos"/>
              </a:rPr>
              <a:t>WHAT I WANT YOU TO REMEMBER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07408"/>
            <a:ext cx="3429000" cy="1005840"/>
          </a:xfrm>
          <a:prstGeom prst="roundRect">
            <a:avLst/>
          </a:prstGeom>
          <a:solidFill>
            <a:srgbClr val="0D1A2F"/>
          </a:solidFill>
          <a:ln w="12700"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4626864"/>
            <a:ext cx="32004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DD395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5" y="4562856"/>
            <a:ext cx="10972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F4F8FC"/>
                </a:solidFill>
                <a:latin typeface="Aptos"/>
              </a:rPr>
              <a:t>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5" y="4864608"/>
            <a:ext cx="260604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A4B5C9"/>
                </a:solidFill>
                <a:latin typeface="Aptos"/>
              </a:rPr>
              <a:t>I bring real enterprise troubleshooting experience.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688" y="4407408"/>
            <a:ext cx="3429000" cy="1005840"/>
          </a:xfrm>
          <a:prstGeom prst="roundRect">
            <a:avLst/>
          </a:prstGeom>
          <a:solidFill>
            <a:srgbClr val="0D1A2F"/>
          </a:solidFill>
          <a:ln w="12700"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4626864"/>
            <a:ext cx="32004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DD395"/>
                </a:solidFill>
                <a:latin typeface="Aptos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8616" y="4562856"/>
            <a:ext cx="10972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F4F8FC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28616" y="4864608"/>
            <a:ext cx="260604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A4B5C9"/>
                </a:solidFill>
                <a:latin typeface="Aptos"/>
              </a:rPr>
              <a:t>I can demonstrate what I have built, not just list tools.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4407408"/>
            <a:ext cx="3429000" cy="1005840"/>
          </a:xfrm>
          <a:prstGeom prst="roundRect">
            <a:avLst/>
          </a:prstGeom>
          <a:solidFill>
            <a:srgbClr val="0D1A2F"/>
          </a:solidFill>
          <a:ln w="12700"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2168" y="4626864"/>
            <a:ext cx="32004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DD395"/>
                </a:solidFill>
                <a:latin typeface="Apto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1936" y="4562856"/>
            <a:ext cx="10972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F4F8FC"/>
                </a:solidFill>
                <a:latin typeface="Aptos"/>
              </a:rPr>
              <a:t>Growth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31936" y="4864608"/>
            <a:ext cx="260604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A4B5C9"/>
                </a:solidFill>
                <a:latin typeface="Aptos"/>
              </a:rPr>
              <a:t>I am deliberately building Cloud &amp; DevOps capability.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650992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4F8FC"/>
                </a:solidFill>
                <a:latin typeface="Aptos"/>
              </a:rPr>
              <a:t>“I started my career solving IT problems for users.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016752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29C5EF"/>
                </a:solidFill>
                <a:latin typeface="Aptos"/>
              </a:rPr>
              <a:t>Today, I’m learning how to solve those problems at cloud and infrastructure scale.”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6355080"/>
            <a:ext cx="14173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200" b="1" i="0">
                <a:solidFill>
                  <a:srgbClr val="F4F8FC"/>
                </a:solidFill>
                <a:latin typeface="Aptos"/>
              </a:rPr>
              <a:t>Thank you.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A4B5C9"/>
                </a:solidFill>
                <a:latin typeface="Aptos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Martin — 5-Minute Portfolio Presentation</dc:title>
  <dc:subject>Generation Singapore SCTP Cloud Support &amp; DevOps</dc:subject>
  <dc:creator>William Martin</dc:creator>
  <cp:keywords/>
  <dc:description>Five-slide portfolio presentation with speaker notes/transcript and actual CI/CD project screenshots.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